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6" r:id="rId17"/>
    <p:sldId id="271" r:id="rId18"/>
    <p:sldId id="277" r:id="rId19"/>
    <p:sldId id="279" r:id="rId20"/>
    <p:sldId id="280" r:id="rId21"/>
    <p:sldId id="272" r:id="rId22"/>
    <p:sldId id="259" r:id="rId23"/>
  </p:sldIdLst>
  <p:sldSz cx="12192000" cy="6858000"/>
  <p:notesSz cx="6858000" cy="9144000"/>
  <p:embeddedFontLst>
    <p:embeddedFont>
      <p:font typeface="Calibri" panose="020F0502020204030204"/>
      <p:regular r:id="rId27"/>
    </p:embeddedFont>
    <p:embeddedFont>
      <p:font typeface="Arial Rounded MT Bold" panose="020F0704030504030204" pitchFamily="34" charset="0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Libre Baskerville" panose="0200000000000000000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58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393654" y="3429000"/>
            <a:ext cx="7246189" cy="1443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br>
              <a:rPr lang="en-IN" sz="2400" b="0" i="0" u="none" strike="noStrike" cap="none" dirty="0">
                <a:solidFill>
                  <a:srgbClr val="FF0000"/>
                </a:solidFill>
                <a:latin typeface="Arial Rounded MT Bold" panose="020F0704030504030204" pitchFamily="34" charset="0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IN" sz="3200" dirty="0">
                <a:solidFill>
                  <a:srgbClr val="FF0000"/>
                </a:solidFill>
                <a:latin typeface="Arial Rounded MT Bold" panose="020F0704030504030204" pitchFamily="34" charset="0"/>
                <a:ea typeface="Calibri" panose="020F0502020204030204"/>
                <a:cs typeface="Calibri" panose="020F0502020204030204"/>
                <a:sym typeface="Calibri" panose="020F0502020204030204"/>
              </a:rPr>
              <a:t>P</a:t>
            </a:r>
            <a:r>
              <a:rPr lang="en-IN" sz="3200" dirty="0">
                <a:solidFill>
                  <a:schemeClr val="tx1"/>
                </a:solidFill>
                <a:latin typeface="Arial Rounded MT Bold" panose="020F0704030504030204" pitchFamily="34" charset="0"/>
                <a:ea typeface="Calibri" panose="020F0502020204030204"/>
                <a:cs typeface="Calibri" panose="020F0502020204030204"/>
                <a:sym typeface="Calibri" panose="020F0502020204030204"/>
              </a:rPr>
              <a:t>O</a:t>
            </a:r>
            <a:r>
              <a:rPr lang="en-IN" sz="3200" dirty="0">
                <a:solidFill>
                  <a:srgbClr val="FF0000"/>
                </a:solidFill>
                <a:latin typeface="Arial Rounded MT Bold" panose="020F0704030504030204" pitchFamily="34" charset="0"/>
                <a:ea typeface="Calibri" panose="020F0502020204030204"/>
                <a:cs typeface="Calibri" panose="020F0502020204030204"/>
                <a:sym typeface="Calibri" panose="020F0502020204030204"/>
              </a:rPr>
              <a:t>W</a:t>
            </a:r>
            <a:r>
              <a:rPr lang="en-IN" sz="3200" dirty="0">
                <a:solidFill>
                  <a:schemeClr val="tx1"/>
                </a:solidFill>
                <a:latin typeface="Arial Rounded MT Bold" panose="020F0704030504030204" pitchFamily="34" charset="0"/>
                <a:ea typeface="Calibri" panose="020F0502020204030204"/>
                <a:cs typeface="Calibri" panose="020F0502020204030204"/>
                <a:sym typeface="Calibri" panose="020F0502020204030204"/>
              </a:rPr>
              <a:t>E</a:t>
            </a:r>
            <a:r>
              <a:rPr lang="en-IN" sz="3200" dirty="0">
                <a:solidFill>
                  <a:srgbClr val="FF0000"/>
                </a:solidFill>
                <a:latin typeface="Arial Rounded MT Bold" panose="020F0704030504030204" pitchFamily="34" charset="0"/>
                <a:ea typeface="Calibri" panose="020F0502020204030204"/>
                <a:cs typeface="Calibri" panose="020F0502020204030204"/>
                <a:sym typeface="Calibri" panose="020F0502020204030204"/>
              </a:rPr>
              <a:t>R </a:t>
            </a:r>
            <a:r>
              <a:rPr lang="en-IN" sz="3200" dirty="0">
                <a:solidFill>
                  <a:schemeClr val="tx1"/>
                </a:solidFill>
                <a:latin typeface="Arial Rounded MT Bold" panose="020F0704030504030204" pitchFamily="34" charset="0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r>
              <a:rPr lang="en-IN" sz="3200" dirty="0">
                <a:solidFill>
                  <a:srgbClr val="FF0000"/>
                </a:solidFill>
                <a:latin typeface="Arial Rounded MT Bold" panose="020F0704030504030204" pitchFamily="34" charset="0"/>
                <a:ea typeface="Calibri" panose="020F0502020204030204"/>
                <a:cs typeface="Calibri" panose="020F0502020204030204"/>
                <a:sym typeface="Calibri" panose="020F0502020204030204"/>
              </a:rPr>
              <a:t>I </a:t>
            </a:r>
            <a:r>
              <a:rPr lang="en-IN" sz="3200" b="1" dirty="0">
                <a:solidFill>
                  <a:schemeClr val="tx1"/>
                </a:solidFill>
                <a:latin typeface="Arial Rounded MT Bold" panose="020F0704030504030204" pitchFamily="34" charset="0"/>
                <a:ea typeface="Calibri" panose="020F0502020204030204"/>
                <a:cs typeface="Calibri" panose="020F0502020204030204"/>
                <a:sym typeface="Calibri" panose="020F0502020204030204"/>
              </a:rPr>
              <a:t>–</a:t>
            </a:r>
            <a:r>
              <a:rPr lang="en-IN" sz="3200" dirty="0">
                <a:solidFill>
                  <a:srgbClr val="FF0000"/>
                </a:solidFill>
                <a:latin typeface="Arial Rounded MT Bold" panose="020F0704030504030204" pitchFamily="34" charset="0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IN" sz="3200" dirty="0">
                <a:solidFill>
                  <a:srgbClr val="FF0000"/>
                </a:solidFill>
                <a:latin typeface="Arial Rounded MT Bold" panose="020F0704030504030204" pitchFamily="34" charset="0"/>
                <a:ea typeface="Calibri" panose="020F0502020204030204"/>
                <a:cs typeface="Calibri" panose="020F0502020204030204"/>
                <a:sym typeface="Calibri" panose="020F0502020204030204"/>
              </a:rPr>
              <a:t>Financial Data </a:t>
            </a:r>
            <a:endParaRPr lang="en-US" altLang="en-IN" sz="3200" dirty="0">
              <a:solidFill>
                <a:srgbClr val="FF0000"/>
              </a:solidFill>
              <a:latin typeface="Arial Rounded MT Bold" panose="020F0704030504030204" pitchFamily="34" charset="0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altLang="en-IN" sz="3200" dirty="0">
                <a:solidFill>
                  <a:srgbClr val="FF0000"/>
                </a:solidFill>
                <a:latin typeface="Arial Rounded MT Bold" panose="020F0704030504030204" pitchFamily="34" charset="0"/>
                <a:ea typeface="Calibri" panose="020F0502020204030204"/>
                <a:cs typeface="Calibri" panose="020F0502020204030204"/>
                <a:sym typeface="Calibri" panose="020F0502020204030204"/>
              </a:rPr>
              <a:t>Analysis</a:t>
            </a:r>
            <a:endParaRPr lang="en-US" altLang="en-IN" sz="3200" b="0" i="0" u="none" strike="noStrike" cap="none" dirty="0">
              <a:solidFill>
                <a:srgbClr val="FF0000"/>
              </a:solidFill>
              <a:latin typeface="Arial Rounded MT Bold" panose="020F0704030504030204" pitchFamily="34" charset="0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59065" y="5140110"/>
            <a:ext cx="2984776" cy="138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b="1" u="sng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Presented by:</a:t>
            </a:r>
            <a:r>
              <a:rPr lang="en-IN" u="sng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b="1" kern="1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altLang="en-IN" b="1" kern="1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D. FAISAL PASHA</a:t>
            </a:r>
            <a:endParaRPr lang="en-IN" b="1" u="sng" kern="1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b="1" u="sng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Batch No:</a:t>
            </a:r>
            <a:r>
              <a:rPr lang="en-I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b="1" kern="1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altLang="en-IN" b="1" kern="1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35</a:t>
            </a:r>
            <a:endParaRPr lang="en-IN" b="1" kern="1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b="1" u="sng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INNOMATICS RESEARCH LABS</a:t>
            </a:r>
            <a:endParaRPr lang="en-IN" b="1" u="sng" kern="1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b="1" u="sng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DILSUKHNAGAR</a:t>
            </a:r>
            <a:endParaRPr lang="en-IN" b="1" u="sng" kern="1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5249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IN" sz="32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54735"/>
            <a:ext cx="5457190" cy="491617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statements contain valuable information about a company’s performance and financial health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income statements, balance sheets, and cash flow statements together provides deeper insights.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enables interactive analysis and visualization of complex financial data.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transforming raw financial data into meaningful business insights.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635" y="1525905"/>
            <a:ext cx="4241165" cy="2626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269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005" y="1382395"/>
            <a:ext cx="11389995" cy="499681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data is often scattered across multiple datasets and time periods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makes it difficult to track trends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and compare companies efficiently.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profitability, liquidity, and leverage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patterns can be time-consuming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centralized and interactive financial analysis solution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5368" y="1930233"/>
            <a:ext cx="4048432" cy="34480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6255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45545"/>
            <a:ext cx="10515600" cy="4938098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financial performance of multiple companies.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revenue, net income, cash flow, assets, and liabilities.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trends across annual and quarterly periods.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company profitability, liquidity, and financial stability.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interactive dashboards using Power BI.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data-driven decision-making.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19484" y="3956019"/>
            <a:ext cx="3864077" cy="20892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269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71717"/>
            <a:ext cx="10515600" cy="5171768"/>
          </a:xfrm>
        </p:spPr>
        <p:txBody>
          <a:bodyPr>
            <a:noAutofit/>
          </a:bodyPr>
          <a:lstStyle/>
          <a:p>
            <a:pPr>
              <a:lnSpc>
                <a:spcPct val="7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financial statement data from multiple companies.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categorized into three main financial statements: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Statement – Revenue, costs, and profitability metrics.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Sheet – Assets, liabilities, and equity information.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Flow Statement – Operating, investing, and financing cash flows.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70000"/>
              </a:lnSpc>
              <a:buFont typeface="Wingdings" panose="05000000000000000000" charset="0"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buFont typeface="Wingdings" panose="05000000000000000000" charset="0"/>
              <a:buChar char="v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dataset contains: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identifier (Ticker).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period (Annual / Quarterly).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values.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dates.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datasets together provide a comprehensive view of company 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70000"/>
              </a:lnSpc>
              <a:buFont typeface="Wingdings" panose="05000000000000000000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financial performance over time.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8080"/>
          </a:xfrm>
        </p:spPr>
        <p:txBody>
          <a:bodyPr>
            <a:normAutofit lnSpcReduction="2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annual and quarterly datasets into unified tables.</a:t>
            </a:r>
            <a:endParaRPr lang="en-US" altLang="en-US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column names and data formats across all datasets.</a:t>
            </a:r>
            <a:endParaRPr lang="en-US" altLang="en-US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date columns into proper date format.</a:t>
            </a:r>
            <a:endParaRPr lang="en-US" altLang="en-US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Date table to enable time-based analysis.</a:t>
            </a:r>
            <a:endParaRPr lang="en-US" altLang="en-US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unnecessary columns to optimize performance.</a:t>
            </a:r>
            <a:endParaRPr lang="en-US" altLang="en-US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Font typeface="Wingdings" panose="05000000000000000000" pitchFamily="2" charset="2"/>
              <a:buNone/>
            </a:pPr>
            <a:endParaRPr lang="en-US" altLang="en-US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2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consistent relationships between:</a:t>
            </a:r>
            <a:endParaRPr lang="en-US" altLang="en-US" sz="22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Statement</a:t>
            </a:r>
            <a:endParaRPr lang="en-US" altLang="en-US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Sheet</a:t>
            </a:r>
            <a:endParaRPr lang="en-US" altLang="en-US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Flow Statement</a:t>
            </a:r>
            <a:endParaRPr lang="en-US" altLang="en-US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Font typeface="Wingdings" panose="05000000000000000000" pitchFamily="2" charset="2"/>
              <a:buNone/>
            </a:pPr>
            <a:endParaRPr lang="en-US" altLang="en-US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or null values to avoid calculation errors</a:t>
            </a:r>
            <a:endParaRPr lang="en-US" altLang="en-US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data consistency across companies and periods</a:t>
            </a:r>
            <a:endParaRPr lang="en-US" altLang="en-US" sz="2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2160" y="2272403"/>
            <a:ext cx="2296001" cy="20769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591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 Measures</a:t>
            </a: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70040"/>
            <a:ext cx="10515600" cy="5006924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DAX measures to calculate key financial metrics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were grouped into a dedicated Measures table.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Font typeface="Wingdings" panose="05000000000000000000" pitchFamily="2" charset="2"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measures include: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                            Net Income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Cash Flow                   Free Cash Flow      Total Assets and Total Liabilities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financial ratios and KPIs: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Debt-to-Equity Ratio         Current Ratio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Year-over-Year Growth Metrics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time intelligence functions: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Year-over-Year revenue growth            Trend analysis across periods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 enabled dynamic calculations based on slicer selections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5121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90246"/>
            <a:ext cx="10515600" cy="5086717"/>
          </a:xfrm>
        </p:spPr>
        <p:txBody>
          <a:bodyPr>
            <a:normAutofit fontScale="9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revenue of each company annually and quarterly?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revenue highlights long-term company scale, while quarterly data shows short-term performance fluctuations.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levels vary significantly across companies, indicating differences in market size and business strength.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0545" y="1372235"/>
            <a:ext cx="3216275" cy="25838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420" y="1372235"/>
            <a:ext cx="3185795" cy="25838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90716"/>
            <a:ext cx="10515600" cy="518624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revenue and net income change over time across companies?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growth does not always translate into proportional profit growth.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companies show improving profitability while others face margin pressure.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050" y="1543050"/>
            <a:ext cx="3771900" cy="26003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668215"/>
            <a:ext cx="10515600" cy="550874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companies generate the highest cash flow from operations?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companies consistently dominate operating cash flow generation.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operating cash flow indicates sustainable core business performance.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4895" y="1123950"/>
            <a:ext cx="4119880" cy="30048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726831"/>
            <a:ext cx="10515600" cy="545013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companies have negative free cash flow?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companies are unable to cover investments through operational cash.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negative free cash flow highlights potential liquidity risks.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5525" y="1343025"/>
            <a:ext cx="4197985" cy="26917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62708"/>
            <a:ext cx="10515600" cy="561425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total debt compare to shareholder equity across companies?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structures vary significantly across companies.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debt levels indicate increased financial leverage and risk.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1275" y="1400175"/>
            <a:ext cx="7029450" cy="28860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97877"/>
            <a:ext cx="10515600" cy="557908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did revenue change year over year?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growth rates fluctuate across years and companies.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companies demonstrate consistent growth while others show volatility.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355" y="1350645"/>
            <a:ext cx="4331335" cy="26231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695" y="1350645"/>
            <a:ext cx="4396105" cy="27216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50" y="472440"/>
            <a:ext cx="9528175" cy="54438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185" y="497205"/>
            <a:ext cx="9665335" cy="56178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235" y="581025"/>
            <a:ext cx="9915525" cy="5695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090" y="591185"/>
            <a:ext cx="10125710" cy="56762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3490" y="534035"/>
            <a:ext cx="9684385" cy="54590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9952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36431"/>
            <a:ext cx="10515600" cy="4840532"/>
          </a:xfrm>
        </p:spPr>
        <p:txBody>
          <a:bodyPr>
            <a:normAutofit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provided a comprehensive view of company financial performance using income statement, balance sheet, and cash flow data.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Power BI dashboards enabled effective comparison of companies across annual and quarterly periods.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financial metrics revealed significant differences in growth, profitability, liquidity, and leverage among companies.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flow analysis highlighted both financially stable companies and those facing potential liquidity risks.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demonstrated how data visualization and DAX-driven insights support informed, data-driven financial decision-making.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 panose="02000000000000000000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 panose="02000000000000000000"/>
                <a:ea typeface="Libre Baskerville" panose="02000000000000000000"/>
                <a:cs typeface="Libre Baskerville" panose="02000000000000000000"/>
                <a:sym typeface="Libre Baskerville" panose="02000000000000000000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4742</Words>
  <Application>WPS Presentation</Application>
  <PresentationFormat>Widescreen</PresentationFormat>
  <Paragraphs>164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SimSun</vt:lpstr>
      <vt:lpstr>Wingdings</vt:lpstr>
      <vt:lpstr>Arial</vt:lpstr>
      <vt:lpstr>Calibri</vt:lpstr>
      <vt:lpstr>Arial Rounded MT Bold</vt:lpstr>
      <vt:lpstr>Times New Roman</vt:lpstr>
      <vt:lpstr>Calibri</vt:lpstr>
      <vt:lpstr>Microsoft YaHei</vt:lpstr>
      <vt:lpstr>Arial Unicode MS</vt:lpstr>
      <vt:lpstr>Libre Baskerville</vt:lpstr>
      <vt:lpstr>Wingdings</vt:lpstr>
      <vt:lpstr>Office Theme</vt:lpstr>
      <vt:lpstr>PowerPoint 演示文稿</vt:lpstr>
      <vt:lpstr>Introduction:</vt:lpstr>
      <vt:lpstr>Problem Statement:</vt:lpstr>
      <vt:lpstr>Objective:</vt:lpstr>
      <vt:lpstr>Dataset Description:</vt:lpstr>
      <vt:lpstr>Data Cleaning:</vt:lpstr>
      <vt:lpstr>DAX Measures:</vt:lpstr>
      <vt:lpstr>Visualizations: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Conclusion: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Mohammed Faisal</cp:lastModifiedBy>
  <cp:revision>3</cp:revision>
  <dcterms:created xsi:type="dcterms:W3CDTF">2021-02-16T05:19:00Z</dcterms:created>
  <dcterms:modified xsi:type="dcterms:W3CDTF">2025-12-13T09:17:52Z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CC8DC4C70D95431E98DC8D7BBCA5C491_13</vt:lpwstr>
  </property>
  <property fmtid="{D5CDD505-2E9C-101B-9397-08002B2CF9AE}" pid="3" name="KSOProductBuildVer">
    <vt:lpwstr>1033-12.2.0.23155</vt:lpwstr>
  </property>
</Properties>
</file>